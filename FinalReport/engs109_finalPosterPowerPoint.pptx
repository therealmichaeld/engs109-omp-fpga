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6"/>
  </p:notesMasterIdLst>
  <p:sldIdLst>
    <p:sldId id="257" r:id="rId5"/>
  </p:sldIdLst>
  <p:sldSz cx="43891200" cy="32918400"/>
  <p:notesSz cx="6858000" cy="9144000"/>
  <p:embeddedFontLst>
    <p:embeddedFont>
      <p:font typeface="Arial Black" panose="020B0A04020102020204" pitchFamily="34" charset="0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90" userDrawn="1">
          <p15:clr>
            <a:srgbClr val="A4A3A4"/>
          </p15:clr>
        </p15:guide>
        <p15:guide id="2" pos="13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007E4B"/>
    <a:srgbClr val="00693E"/>
    <a:srgbClr val="8DA7D9"/>
    <a:srgbClr val="C7DDF1"/>
    <a:srgbClr val="D1E8B2"/>
    <a:srgbClr val="003399"/>
    <a:srgbClr val="00008B"/>
    <a:srgbClr val="0476D0"/>
    <a:srgbClr val="214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1EE76-6F2F-4DC2-9423-2C232D7C8D4A}" v="53" dt="2026-05-31T19:33:50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7" autoAdjust="0"/>
  </p:normalViewPr>
  <p:slideViewPr>
    <p:cSldViewPr snapToGrid="0">
      <p:cViewPr>
        <p:scale>
          <a:sx n="41" d="100"/>
          <a:sy n="41" d="100"/>
        </p:scale>
        <p:origin x="756" y="96"/>
      </p:cViewPr>
      <p:guideLst>
        <p:guide orient="horz" pos="10890"/>
        <p:guide pos="137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C5333-9510-48C7-990D-7E2E4D75EF1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A3299-ED17-41EA-801C-6C6F03444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6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A3299-ED17-41EA-801C-6C6F034447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57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79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3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299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0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41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70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88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61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7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0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76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BD942-E6F9-406E-A883-7B7C0AFE82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8C309-EF32-4CA9-846B-58D794527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4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2">
            <a:extLst>
              <a:ext uri="{FF2B5EF4-FFF2-40B4-BE49-F238E27FC236}">
                <a16:creationId xmlns:a16="http://schemas.microsoft.com/office/drawing/2014/main" id="{FF0B99AF-F66D-293F-0CE0-4F3B8FF453FE}"/>
              </a:ext>
            </a:extLst>
          </p:cNvPr>
          <p:cNvSpPr/>
          <p:nvPr/>
        </p:nvSpPr>
        <p:spPr>
          <a:xfrm>
            <a:off x="35139" y="-299788"/>
            <a:ext cx="43891200" cy="364479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32" name="矩形 31"/>
          <p:cNvSpPr/>
          <p:nvPr/>
        </p:nvSpPr>
        <p:spPr>
          <a:xfrm>
            <a:off x="568067" y="11065306"/>
            <a:ext cx="14580474" cy="1013522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30"/>
          </a:p>
        </p:txBody>
      </p:sp>
      <p:sp>
        <p:nvSpPr>
          <p:cNvPr id="5" name="文本框 4"/>
          <p:cNvSpPr txBox="1"/>
          <p:nvPr/>
        </p:nvSpPr>
        <p:spPr>
          <a:xfrm>
            <a:off x="4009621" y="100343"/>
            <a:ext cx="37757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Fixed-Point OMP for ECG Compressed Sensing: a precision-resource study on the Zynq-7020</a:t>
            </a:r>
            <a:endParaRPr lang="zh-CN" altLang="en-US" sz="54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2148" y="1287618"/>
            <a:ext cx="34508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Brandon Carido, Michael Dang, Connor Machado</a:t>
            </a:r>
            <a:endParaRPr lang="en-US" altLang="zh-CN" sz="4000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200"/>
              </a:spcBef>
            </a:pP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Thayer School of Engineering, Dartmouth College, Hanover, NH, USA</a:t>
            </a:r>
          </a:p>
        </p:txBody>
      </p:sp>
      <p:sp>
        <p:nvSpPr>
          <p:cNvPr id="9" name="矩形 8"/>
          <p:cNvSpPr/>
          <p:nvPr/>
        </p:nvSpPr>
        <p:spPr>
          <a:xfrm>
            <a:off x="683096" y="4969713"/>
            <a:ext cx="14473071" cy="470537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400" marR="10160" algn="just">
              <a:lnSpc>
                <a:spcPts val="6000"/>
              </a:lnSpc>
              <a:spcBef>
                <a:spcPts val="600"/>
              </a:spcBef>
              <a:spcAft>
                <a:spcPts val="600"/>
              </a:spcAft>
              <a:buClr>
                <a:srgbClr val="7030A0"/>
              </a:buClr>
            </a:pPr>
            <a:endParaRPr lang="en-US" sz="3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5139" y="29934021"/>
            <a:ext cx="43891200" cy="2884036"/>
          </a:xfrm>
          <a:prstGeom prst="rect">
            <a:avLst/>
          </a:prstGeom>
          <a:solidFill>
            <a:srgbClr val="00693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8" name="文本框 17"/>
          <p:cNvSpPr txBox="1"/>
          <p:nvPr/>
        </p:nvSpPr>
        <p:spPr>
          <a:xfrm>
            <a:off x="371825" y="30153804"/>
            <a:ext cx="4810760" cy="25538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zh-CN" altLang="en-US"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13"/>
          <p:cNvSpPr txBox="1"/>
          <p:nvPr/>
        </p:nvSpPr>
        <p:spPr>
          <a:xfrm>
            <a:off x="5412148" y="29971568"/>
            <a:ext cx="31978499" cy="3185800"/>
          </a:xfrm>
          <a:prstGeom prst="rect">
            <a:avLst/>
          </a:prstGeom>
          <a:noFill/>
        </p:spPr>
        <p:txBody>
          <a:bodyPr vert="horz" wrap="square" lIns="0" tIns="126040" rIns="0" bIns="0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J. A. Tropp and A. C. Gilbert, "Signal recovery from random measurements via orthogonal matching pursuit," 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Trans. Inf. Theory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53, no. 12, pp. 4655–4666, Dec. 2007.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H. Rabah, A. Amira, B. K. Mohanty, S.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Almaadeed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P. K. Meher, "FPGA implementation of orthogonal matching pursuit for compressive sensing reconstruction," 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Trans. Very Large Scale </a:t>
            </a:r>
            <a:r>
              <a:rPr lang="en-US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(VLSI) Syst.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10, pp. 2209–2220, Oct. 2015.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A. L. Goldberger 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PhysioBank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PhysioToolkit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PhysioNet: Components of a new research resource for complex physiologic signals," </a:t>
            </a:r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Circulation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101, no. 23, pp. e215–e220, Jun. 2000.</a:t>
            </a:r>
          </a:p>
          <a:p>
            <a:pPr marR="10160">
              <a:lnSpc>
                <a:spcPts val="5200"/>
              </a:lnSpc>
              <a:buClr>
                <a:srgbClr val="7030A0"/>
              </a:buClr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8068" y="10010042"/>
            <a:ext cx="14580474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90720" y="3948157"/>
            <a:ext cx="14457821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371825" y="3745138"/>
            <a:ext cx="15054947" cy="25931278"/>
          </a:xfrm>
          <a:prstGeom prst="rect">
            <a:avLst/>
          </a:prstGeom>
          <a:noFill/>
          <a:ln w="76200">
            <a:solidFill>
              <a:srgbClr val="0069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38" name="Picture 37" descr="A black and white logo&#10;&#10;AI-generated content may be incorrect.">
            <a:extLst>
              <a:ext uri="{FF2B5EF4-FFF2-40B4-BE49-F238E27FC236}">
                <a16:creationId xmlns:a16="http://schemas.microsoft.com/office/drawing/2014/main" id="{00826227-EE66-88A6-9AC2-8677C8C685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1" y="271239"/>
            <a:ext cx="2404068" cy="24603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230A20-A261-8505-97FB-0454D54AB70C}"/>
              </a:ext>
            </a:extLst>
          </p:cNvPr>
          <p:cNvSpPr txBox="1"/>
          <p:nvPr/>
        </p:nvSpPr>
        <p:spPr>
          <a:xfrm>
            <a:off x="874451" y="5064492"/>
            <a:ext cx="1395177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sensing reduces the data a wearable ECG sensor must acquire and transmit, but shifts the cost to signal recovery, which must run cheaply on embedded hardware. We implement a fixed-point Orthogonal Matching Pursuit (OMP) recovery engine for the Zynq-7020, partitioning the algorithm so the parallel correlation step maps to programmable logic while the sequential least-squares solve runs in software on the Cortex-A9. Using a Bernoulli ±1 measurement matrix at a 0.5 compression ratio (M = 128, N = 256) and a Daubechies-4 wavelet sparsifying basis, we characterize the design across MAC operand bit-widths on real MIT-BIH ECG data. Our central result is a precision–resource Pareto front: reconstruction error (PRD) is essentially flat from 16 bits down to 8 bits, then degrades sharply below 6 bits, identifying 11-bit arithmetic as the efficient operating point. Below 11 bits the multipliers consume LUT fabric; at 11 bits they map to the otherwise‑idle DSP array, freeing fabric for the AXI interface, control, and other system logic at no accuracy cost. Against a tuned Cortex-A9 software baseline (187 µs per correlation pass), the fixed-point engine achieves an estimated ~18× speedup on the correlation step. </a:t>
            </a:r>
          </a:p>
        </p:txBody>
      </p:sp>
      <p:sp>
        <p:nvSpPr>
          <p:cNvPr id="3" name="矩形 31">
            <a:extLst>
              <a:ext uri="{FF2B5EF4-FFF2-40B4-BE49-F238E27FC236}">
                <a16:creationId xmlns:a16="http://schemas.microsoft.com/office/drawing/2014/main" id="{F83BA96C-2FC4-564D-EF92-D32EFD9DB474}"/>
              </a:ext>
            </a:extLst>
          </p:cNvPr>
          <p:cNvSpPr/>
          <p:nvPr/>
        </p:nvSpPr>
        <p:spPr>
          <a:xfrm>
            <a:off x="32325019" y="4983485"/>
            <a:ext cx="11072436" cy="886194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3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2DDBD4B1-7608-B0F6-0391-3C1B4D7B632A}"/>
              </a:ext>
            </a:extLst>
          </p:cNvPr>
          <p:cNvSpPr/>
          <p:nvPr/>
        </p:nvSpPr>
        <p:spPr>
          <a:xfrm>
            <a:off x="16343349" y="4838006"/>
            <a:ext cx="14783236" cy="2451595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endParaRPr lang="en-US" dirty="0"/>
          </a:p>
        </p:txBody>
      </p:sp>
      <p:sp>
        <p:nvSpPr>
          <p:cNvPr id="8" name="文本框 30">
            <a:extLst>
              <a:ext uri="{FF2B5EF4-FFF2-40B4-BE49-F238E27FC236}">
                <a16:creationId xmlns:a16="http://schemas.microsoft.com/office/drawing/2014/main" id="{F4CCA078-4FCB-32A7-6C38-A0D1E64A4C5D}"/>
              </a:ext>
            </a:extLst>
          </p:cNvPr>
          <p:cNvSpPr txBox="1"/>
          <p:nvPr/>
        </p:nvSpPr>
        <p:spPr>
          <a:xfrm>
            <a:off x="32332440" y="4023105"/>
            <a:ext cx="11118192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">
            <a:extLst>
              <a:ext uri="{FF2B5EF4-FFF2-40B4-BE49-F238E27FC236}">
                <a16:creationId xmlns:a16="http://schemas.microsoft.com/office/drawing/2014/main" id="{A8CDDCEA-9CF5-546B-B95D-AAF836DBE0DF}"/>
              </a:ext>
            </a:extLst>
          </p:cNvPr>
          <p:cNvSpPr/>
          <p:nvPr/>
        </p:nvSpPr>
        <p:spPr>
          <a:xfrm>
            <a:off x="15978283" y="3745136"/>
            <a:ext cx="15596244" cy="25931277"/>
          </a:xfrm>
          <a:prstGeom prst="rect">
            <a:avLst/>
          </a:prstGeom>
          <a:noFill/>
          <a:ln w="76200">
            <a:solidFill>
              <a:srgbClr val="0069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32258EAB-199D-6D61-6425-BA3435711ED1}"/>
              </a:ext>
            </a:extLst>
          </p:cNvPr>
          <p:cNvSpPr/>
          <p:nvPr/>
        </p:nvSpPr>
        <p:spPr>
          <a:xfrm>
            <a:off x="32077152" y="3745138"/>
            <a:ext cx="11622024" cy="25931276"/>
          </a:xfrm>
          <a:prstGeom prst="rect">
            <a:avLst/>
          </a:prstGeom>
          <a:noFill/>
          <a:ln w="76200">
            <a:solidFill>
              <a:srgbClr val="0069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5" name="矩形 31">
            <a:extLst>
              <a:ext uri="{FF2B5EF4-FFF2-40B4-BE49-F238E27FC236}">
                <a16:creationId xmlns:a16="http://schemas.microsoft.com/office/drawing/2014/main" id="{5E706793-C47C-B1A5-D9A1-BC8CF4074248}"/>
              </a:ext>
            </a:extLst>
          </p:cNvPr>
          <p:cNvSpPr/>
          <p:nvPr/>
        </p:nvSpPr>
        <p:spPr>
          <a:xfrm>
            <a:off x="32366484" y="18462693"/>
            <a:ext cx="11072436" cy="5370051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30"/>
          </a:p>
        </p:txBody>
      </p:sp>
      <p:sp>
        <p:nvSpPr>
          <p:cNvPr id="16" name="文本框 30">
            <a:extLst>
              <a:ext uri="{FF2B5EF4-FFF2-40B4-BE49-F238E27FC236}">
                <a16:creationId xmlns:a16="http://schemas.microsoft.com/office/drawing/2014/main" id="{94229579-54D0-8D41-A502-6EC44324E560}"/>
              </a:ext>
            </a:extLst>
          </p:cNvPr>
          <p:cNvSpPr txBox="1"/>
          <p:nvPr/>
        </p:nvSpPr>
        <p:spPr>
          <a:xfrm>
            <a:off x="32373905" y="17788250"/>
            <a:ext cx="11118192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&amp; Limitations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31">
            <a:extLst>
              <a:ext uri="{FF2B5EF4-FFF2-40B4-BE49-F238E27FC236}">
                <a16:creationId xmlns:a16="http://schemas.microsoft.com/office/drawing/2014/main" id="{F0C66CCB-DD2E-52D9-0F3B-DC15D40D5347}"/>
              </a:ext>
            </a:extLst>
          </p:cNvPr>
          <p:cNvSpPr/>
          <p:nvPr/>
        </p:nvSpPr>
        <p:spPr>
          <a:xfrm>
            <a:off x="32373905" y="24721457"/>
            <a:ext cx="11072436" cy="463250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30"/>
          </a:p>
        </p:txBody>
      </p:sp>
      <p:sp>
        <p:nvSpPr>
          <p:cNvPr id="23" name="文本框 30">
            <a:extLst>
              <a:ext uri="{FF2B5EF4-FFF2-40B4-BE49-F238E27FC236}">
                <a16:creationId xmlns:a16="http://schemas.microsoft.com/office/drawing/2014/main" id="{C1EC6143-0E7D-D592-031A-702F8E6558D8}"/>
              </a:ext>
            </a:extLst>
          </p:cNvPr>
          <p:cNvSpPr txBox="1"/>
          <p:nvPr/>
        </p:nvSpPr>
        <p:spPr>
          <a:xfrm>
            <a:off x="32351946" y="24058902"/>
            <a:ext cx="11072436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B4CA6E-7C07-CC0E-F22B-18647E5BE210}"/>
              </a:ext>
            </a:extLst>
          </p:cNvPr>
          <p:cNvGrpSpPr>
            <a:grpSpLocks noChangeAspect="1"/>
          </p:cNvGrpSpPr>
          <p:nvPr/>
        </p:nvGrpSpPr>
        <p:grpSpPr>
          <a:xfrm>
            <a:off x="918275" y="11502647"/>
            <a:ext cx="8173011" cy="9397895"/>
            <a:chOff x="924323" y="11964752"/>
            <a:chExt cx="13908955" cy="122745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09067C6-A5B4-DA74-C704-E6D06181BEC1}"/>
                </a:ext>
              </a:extLst>
            </p:cNvPr>
            <p:cNvSpPr/>
            <p:nvPr/>
          </p:nvSpPr>
          <p:spPr>
            <a:xfrm>
              <a:off x="965317" y="11964752"/>
              <a:ext cx="13867961" cy="12236437"/>
            </a:xfrm>
            <a:prstGeom prst="rect">
              <a:avLst/>
            </a:prstGeom>
            <a:solidFill>
              <a:srgbClr val="F0F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9210A195-3188-F047-2133-74D5854364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4323" y="12002901"/>
              <a:ext cx="13867961" cy="12236437"/>
            </a:xfrm>
            <a:prstGeom prst="rect">
              <a:avLst/>
            </a:prstGeom>
          </p:spPr>
        </p:pic>
      </p:grpSp>
      <p:sp>
        <p:nvSpPr>
          <p:cNvPr id="27" name="矩形 8">
            <a:extLst>
              <a:ext uri="{FF2B5EF4-FFF2-40B4-BE49-F238E27FC236}">
                <a16:creationId xmlns:a16="http://schemas.microsoft.com/office/drawing/2014/main" id="{C175C55D-194D-760A-D07B-AEC71A805380}"/>
              </a:ext>
            </a:extLst>
          </p:cNvPr>
          <p:cNvSpPr/>
          <p:nvPr/>
        </p:nvSpPr>
        <p:spPr>
          <a:xfrm>
            <a:off x="690721" y="22500247"/>
            <a:ext cx="14473071" cy="682033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400" marR="10160" algn="just">
              <a:lnSpc>
                <a:spcPts val="6000"/>
              </a:lnSpc>
              <a:spcBef>
                <a:spcPts val="600"/>
              </a:spcBef>
              <a:spcAft>
                <a:spcPts val="600"/>
              </a:spcAft>
              <a:buClr>
                <a:srgbClr val="7030A0"/>
              </a:buClr>
            </a:pPr>
            <a:endParaRPr lang="en-US" sz="3200" spc="-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73">
            <a:extLst>
              <a:ext uri="{FF2B5EF4-FFF2-40B4-BE49-F238E27FC236}">
                <a16:creationId xmlns:a16="http://schemas.microsoft.com/office/drawing/2014/main" id="{FD23BBF5-1919-1794-39F4-A814B3B319BD}"/>
              </a:ext>
            </a:extLst>
          </p:cNvPr>
          <p:cNvSpPr txBox="1"/>
          <p:nvPr/>
        </p:nvSpPr>
        <p:spPr>
          <a:xfrm>
            <a:off x="690721" y="21478691"/>
            <a:ext cx="14465446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710460-3FFE-43FE-62D3-E620D5A9A754}"/>
              </a:ext>
            </a:extLst>
          </p:cNvPr>
          <p:cNvSpPr txBox="1"/>
          <p:nvPr/>
        </p:nvSpPr>
        <p:spPr>
          <a:xfrm>
            <a:off x="9593911" y="11470766"/>
            <a:ext cx="5232319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partition.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 is parallel and dominates runtime — mapped to 32 parallel MACs in fabric. Least-squares is sequential and runs in software, where it's inexpensive.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Sparsifying basis.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DCT poorly represents the QRS transient (~57% PRD). A db4 orthonormal wavelet captures it far better (~20% PRD) and avoids the dual-basis pitfalls of biorthogonal wavelets.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precision.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MAC_BITS generic lets the same engine synthesize at every operating point, enabling the bit-width sweep that drives the headline result.</a:t>
            </a:r>
          </a:p>
          <a:p>
            <a:pPr marL="571500" indent="-571500" algn="ctr"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31">
            <a:extLst>
              <a:ext uri="{FF2B5EF4-FFF2-40B4-BE49-F238E27FC236}">
                <a16:creationId xmlns:a16="http://schemas.microsoft.com/office/drawing/2014/main" id="{DF267F89-0D87-7800-6842-3507178CF31C}"/>
              </a:ext>
            </a:extLst>
          </p:cNvPr>
          <p:cNvSpPr/>
          <p:nvPr/>
        </p:nvSpPr>
        <p:spPr>
          <a:xfrm>
            <a:off x="32373905" y="15035207"/>
            <a:ext cx="11023550" cy="2537264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30">
            <a:extLst>
              <a:ext uri="{FF2B5EF4-FFF2-40B4-BE49-F238E27FC236}">
                <a16:creationId xmlns:a16="http://schemas.microsoft.com/office/drawing/2014/main" id="{572F06B1-E754-D37C-ED7F-CF58A7FE7C50}"/>
              </a:ext>
            </a:extLst>
          </p:cNvPr>
          <p:cNvSpPr txBox="1"/>
          <p:nvPr/>
        </p:nvSpPr>
        <p:spPr>
          <a:xfrm>
            <a:off x="32320728" y="14116431"/>
            <a:ext cx="11118192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Up Results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42795C-FE40-D146-5287-40896E0737A3}"/>
              </a:ext>
            </a:extLst>
          </p:cNvPr>
          <p:cNvSpPr txBox="1"/>
          <p:nvPr/>
        </p:nvSpPr>
        <p:spPr>
          <a:xfrm>
            <a:off x="874450" y="22711558"/>
            <a:ext cx="13951779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sensing model.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256-sample ECG window is sampled as y =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fixed Bernoulli ±1 matrix (M = 128, a 0.5 compression ratio). Recovery uses the effective dictionary D =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Φψ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(db4 wavelet basis, unit-norm atoms).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Sparsifying basis.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DCT basis recovered poorly (~57% PRD) — the QRS transient is not DCT-sparse, and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amplifies the error. A db4 orthonormal wavelet captures it far better (~20% PRD) without the dual-basis complications of biorthogonal wavelets.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partition.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OMP alternates a parallel correlation/argmax step (256 atoms × 128-tap products) with a sequential least-squares solve. We map the correlation engine to fabric (32 parallel MACs) and keep the least-squares solve in software on the Cortex-A9.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Bit-width sweep.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MAC_BITS parameter lets one design synthesize at every precision. We sweep MAC_BITS ∈ {3–16}, measuring PRD in a bit-accurate fixed-point simulation on MIT-BIH data and DSP/LUT/BRAM from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synthesis.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tuned C correlation pass (–O3, NEON, fast-math) runs on the Cortex-A9 at 667 MHz, timed on-chip over 1000 iterations.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DDE9D-7F3F-033B-6C8C-265688629410}"/>
              </a:ext>
            </a:extLst>
          </p:cNvPr>
          <p:cNvSpPr txBox="1"/>
          <p:nvPr/>
        </p:nvSpPr>
        <p:spPr>
          <a:xfrm>
            <a:off x="32519166" y="5194650"/>
            <a:ext cx="10762639" cy="828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characterized a fixed-point OMP recovery engine for ECG compressed sensing across MAC precision on the Zynq-7020. The precision–resource Pareto front shows that 11-bit arithmetic sits at the efficient knee: it matches the reconstruction quality of full 16-bit precision while using a fraction of the resources, and only below 6 bits does quality collapse. At this operating point the correlation engine runs an estimated ~18× faster than a tuned Cortex-A9 software baseline. The db4 wavelet basis was essential — it more than halved reconstruction error versus the DCT by better representing the QRS transient. Together these results give a concrete recommendation for resource-constrained deployment: an 11-bit fixed-point correlation engine with software least-squares is the efficient design point for this class of recovery problem.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13BE5C-3EBC-7084-941B-D28498FDE475}"/>
              </a:ext>
            </a:extLst>
          </p:cNvPr>
          <p:cNvSpPr txBox="1"/>
          <p:nvPr/>
        </p:nvSpPr>
        <p:spPr>
          <a:xfrm>
            <a:off x="32519167" y="18990583"/>
            <a:ext cx="10803965" cy="457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quality is bounded by the compression ratio.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M/N = 0.5, mean PRD is ~20%, above the &lt;9% "very good“ literature threshold. This is a fundamental consequence of aggressive </a:t>
            </a:r>
            <a:r>
              <a:rPr lang="en-US" sz="2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morphologically complex ECG, not a precision artifact. Our contribution is the precision/resource </a:t>
            </a:r>
            <a:r>
              <a:rPr lang="en-US" sz="2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usable operating point, not meeting an absolute quality target.</a:t>
            </a:r>
          </a:p>
          <a:p>
            <a:r>
              <a:rPr lang="en-US" sz="2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system was not run end-to-end on hardware.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correlation engine and the software baseline were each validated independently; full PS↔PL integration over AXI was out of scope for the project timeframe. Reported latencies for the FPGA path are analytical (cycle counts × clock period) and synthesis-based, not measured on a live board.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4EC1E7-79F3-CE97-1DCC-D15764BC84C0}"/>
              </a:ext>
            </a:extLst>
          </p:cNvPr>
          <p:cNvSpPr txBox="1"/>
          <p:nvPr/>
        </p:nvSpPr>
        <p:spPr>
          <a:xfrm>
            <a:off x="32519167" y="25306616"/>
            <a:ext cx="1080396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the integration loop.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the validated correlation engine to the software driver over AXI and measure true end-to-end recovery latency and energy on the Zynq, replacing the current analytical estimates.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reconstruction quality.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Raise the measurement ratio (M/N &gt; 0.5) or adopt a learned/overcomplete ECG dictionary to push PRD toward the &lt;9% clinical-quality range, and quantify the resulting resource cost on the same Pareto axes.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6D80D0-3EF0-8187-87FF-EA070C8D95F2}"/>
              </a:ext>
            </a:extLst>
          </p:cNvPr>
          <p:cNvSpPr txBox="1"/>
          <p:nvPr/>
        </p:nvSpPr>
        <p:spPr>
          <a:xfrm>
            <a:off x="32477841" y="15187354"/>
            <a:ext cx="108039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~18× faster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than tuned Cortex-A9 software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187 µs →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10.33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µs per correlation pass 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-bit, compute-only, single pass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7528CF-FA2E-F53A-B39C-58A1B23F4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9154" y="14116431"/>
            <a:ext cx="14783236" cy="6754903"/>
          </a:xfrm>
          <a:prstGeom prst="rect">
            <a:avLst/>
          </a:prstGeom>
        </p:spPr>
      </p:pic>
      <p:sp>
        <p:nvSpPr>
          <p:cNvPr id="10" name="文本框 73">
            <a:extLst>
              <a:ext uri="{FF2B5EF4-FFF2-40B4-BE49-F238E27FC236}">
                <a16:creationId xmlns:a16="http://schemas.microsoft.com/office/drawing/2014/main" id="{C3ABBFA4-8DC6-F04A-0270-FD5C04EF25C9}"/>
              </a:ext>
            </a:extLst>
          </p:cNvPr>
          <p:cNvSpPr txBox="1"/>
          <p:nvPr/>
        </p:nvSpPr>
        <p:spPr>
          <a:xfrm>
            <a:off x="16343349" y="3948157"/>
            <a:ext cx="14785210" cy="1021556"/>
          </a:xfrm>
          <a:prstGeom prst="roundRect">
            <a:avLst/>
          </a:prstGeom>
          <a:solidFill>
            <a:srgbClr val="00693E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7030A0"/>
              </a:buClr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A9ABB9B-BBF6-A9D5-876D-75630CAB7F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042" y="5093353"/>
            <a:ext cx="14762347" cy="90230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09DB9DB-D56B-6D8F-2789-5B07552F0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041" y="20871334"/>
            <a:ext cx="14762347" cy="852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8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c358e8-1c7a-48af-8f5c-a83a662c8e9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F090E9126740BAC151132B7EA8FC" ma:contentTypeVersion="5" ma:contentTypeDescription="Create a new document." ma:contentTypeScope="" ma:versionID="6ba1c73e20c09623a023f5fdb7171a1c">
  <xsd:schema xmlns:xsd="http://www.w3.org/2001/XMLSchema" xmlns:xs="http://www.w3.org/2001/XMLSchema" xmlns:p="http://schemas.microsoft.com/office/2006/metadata/properties" xmlns:ns3="84c358e8-1c7a-48af-8f5c-a83a662c8e90" targetNamespace="http://schemas.microsoft.com/office/2006/metadata/properties" ma:root="true" ma:fieldsID="ff8ac589225dd3400439a128789f01e7" ns3:_="">
    <xsd:import namespace="84c358e8-1c7a-48af-8f5c-a83a662c8e9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358e8-1c7a-48af-8f5c-a83a662c8e9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8F9D9A-0B60-455F-9988-566E10453B16}">
  <ds:schemaRefs>
    <ds:schemaRef ds:uri="http://purl.org/dc/terms/"/>
    <ds:schemaRef ds:uri="http://purl.org/dc/dcmitype/"/>
    <ds:schemaRef ds:uri="http://schemas.microsoft.com/office/2006/metadata/properties"/>
    <ds:schemaRef ds:uri="84c358e8-1c7a-48af-8f5c-a83a662c8e90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A7EB642-AF0B-4FA4-BA12-C6EBC8A3F5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EC1B9E-0F69-49E8-BC5A-C4BA086984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c358e8-1c7a-48af-8f5c-a83a662c8e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1137</TotalTime>
  <Words>1129</Words>
  <Application>Microsoft Office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Times New Roman</vt:lpstr>
      <vt:lpstr>Arial</vt:lpstr>
      <vt:lpstr>Arial Black</vt:lpstr>
      <vt:lpstr>Calibri</vt:lpstr>
      <vt:lpstr>Aptos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hp</dc:creator>
  <cp:lastModifiedBy>Brandon D. Carido</cp:lastModifiedBy>
  <cp:revision>3</cp:revision>
  <cp:lastPrinted>2026-05-31T19:50:08Z</cp:lastPrinted>
  <dcterms:created xsi:type="dcterms:W3CDTF">2022-02-12T01:43:00Z</dcterms:created>
  <dcterms:modified xsi:type="dcterms:W3CDTF">2026-05-31T19:50:46Z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A1EC2483D62646BC924DD8A99F93AF32</vt:lpwstr>
  </property>
  <property fmtid="{D5CDD505-2E9C-101B-9397-08002B2CF9AE}" pid="3" name="KSOProductBuildVer">
    <vt:lpwstr>1033-11.2.0.11486</vt:lpwstr>
  </property>
  <property fmtid="{D5CDD505-2E9C-101B-9397-08002B2CF9AE}" pid="4" name="ContentTypeId">
    <vt:lpwstr>0x010100A1C4F090E9126740BAC151132B7EA8FC</vt:lpwstr>
  </property>
</Properties>
</file>